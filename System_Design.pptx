
<file path=[Content_Types].xml><?xml version="1.0" encoding="utf-8"?>
<Types xmlns="http://schemas.openxmlformats.org/package/2006/content-types">
  <Default Extension="xml" ContentType="application/vnd.openxmlformats-officedocument.extended-properties+xml"/>
  <Default Extension="png" ContentType="image/png"/>
  <Default Extension="svg" ContentType="image/svg+xml"/>
  <Default Extension="fntdata" ContentType="application/x-fontdata"/>
  <Default Extension="rels" ContentType="application/vnd.openxmlformats-package.relationship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</Types>
</file>

<file path=_rels/.rels>&#65279;<?xml version="1.0" encoding="utf-8"?><Relationships xmlns="http://schemas.openxmlformats.org/package/2006/relationships"><Relationship Type="http://schemas.openxmlformats.org/officeDocument/2006/relationships/extended-properties" Target="/docProps/app.xml" Id="rId1" /><Relationship Type="http://schemas.openxmlformats.org/package/2006/relationships/metadata/core-properties" Target="/docProps/core.xml" Id="rId2" /><Relationship Type="http://schemas.openxmlformats.org/officeDocument/2006/relationships/officeDocument" Target="/ppt/presentation.xml" Id="rId3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slide" Target="/ppt/slides/slide1.xml" Id="rId2" /><Relationship Type="http://schemas.openxmlformats.org/officeDocument/2006/relationships/slide" Target="/ppt/slides/slide2.xml" Id="rId3" /><Relationship Type="http://schemas.openxmlformats.org/officeDocument/2006/relationships/slide" Target="/ppt/slides/slide3.xml" Id="rId4" /><Relationship Type="http://schemas.openxmlformats.org/officeDocument/2006/relationships/slide" Target="/ppt/slides/slide4.xml" Id="rId5" /><Relationship Type="http://schemas.openxmlformats.org/officeDocument/2006/relationships/slide" Target="/ppt/slides/slide5.xml" Id="rId6" /><Relationship Type="http://schemas.openxmlformats.org/officeDocument/2006/relationships/slide" Target="/ppt/slides/slide6.xml" Id="rId7" /><Relationship Type="http://schemas.openxmlformats.org/officeDocument/2006/relationships/slide" Target="/ppt/slides/slide7.xml" Id="rId8" /><Relationship Type="http://schemas.openxmlformats.org/officeDocument/2006/relationships/slide" Target="/ppt/slides/slide8.xml" Id="rId9" /><Relationship Type="http://schemas.openxmlformats.org/officeDocument/2006/relationships/slide" Target="/ppt/slides/slide9.xml" Id="rId10" /><Relationship Type="http://schemas.openxmlformats.org/officeDocument/2006/relationships/slide" Target="/ppt/slides/slide10.xml" Id="rId11" /><Relationship Type="http://schemas.openxmlformats.org/officeDocument/2006/relationships/notesMaster" Target="/ppt/notesMasters/notesMaster1.xml" Id="rId12" /><Relationship Type="http://schemas.openxmlformats.org/officeDocument/2006/relationships/presProps" Target="/ppt/presProps.xml" Id="rId13" /><Relationship Type="http://schemas.openxmlformats.org/officeDocument/2006/relationships/viewProps" Target="/ppt/viewProps.xml" Id="rId14" /><Relationship Type="http://schemas.openxmlformats.org/officeDocument/2006/relationships/theme" Target="/ppt/theme/theme1.xml" Id="rId15" /><Relationship Type="http://schemas.openxmlformats.org/officeDocument/2006/relationships/tableStyles" Target="/ppt/tableStyles.xml" Id="rId16" /><Relationship Type="http://schemas.openxmlformats.org/officeDocument/2006/relationships/font" Target="/ppt/fonts/font1.fntdata" Id="rId17" /><Relationship Type="http://schemas.openxmlformats.org/officeDocument/2006/relationships/font" Target="/ppt/fonts/font2.fntdata" Id="rId18" /><Relationship Type="http://schemas.openxmlformats.org/officeDocument/2006/relationships/font" Target="/ppt/fonts/font3.fntdata" Id="rId19" /><Relationship Type="http://schemas.openxmlformats.org/officeDocument/2006/relationships/font" Target="/ppt/fonts/font4.fntdata" Id="rId20" /><Relationship Type="http://schemas.openxmlformats.org/officeDocument/2006/relationships/font" Target="/ppt/fonts/font5.fntdata" Id="rId21" /><Relationship Type="http://schemas.openxmlformats.org/officeDocument/2006/relationships/font" Target="/ppt/fonts/font6.fntdata" Id="rId22" /><Relationship Type="http://schemas.openxmlformats.org/officeDocument/2006/relationships/font" Target="/ppt/fonts/font7.fntdata" Id="rId23" /><Relationship Type="http://schemas.openxmlformats.org/officeDocument/2006/relationships/font" Target="/ppt/fonts/font8.fntdata" Id="rId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theme/theme1.xml" Id="rId1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1.xml" Id="rI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2.xml" Id="rI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3.xml" Id="rI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4.xml" Id="rI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5.xml" Id="rI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6.xml" Id="rI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7.xml" Id="rI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8.xml" Id="rId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9.xml" Id="rId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10.xml" Id="rId2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image" Target="/ppt/media/image-1002-1.png" Id="rId1" /><Relationship Type="http://schemas.openxmlformats.org/officeDocument/2006/relationships/slideMaster" Target="/ppt/slideMasters/slideMaster1.xml" Id="rId3" /><Relationship Type="http://schemas.openxmlformats.org/officeDocument/2006/relationships/hyperlink" Target="https://gamma.app/?utm_source=made-with-gamma" TargetMode="External" Id="rId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image" Target="/ppt/media/image-1003-1.png" Id="rId1" /><Relationship Type="http://schemas.openxmlformats.org/officeDocument/2006/relationships/slideMaster" Target="/ppt/slideMasters/slideMaster1.xml" Id="rId3" /><Relationship Type="http://schemas.openxmlformats.org/officeDocument/2006/relationships/hyperlink" Target="https://gamma.app/?utm_source=made-with-gamma" TargetMode="External" Id="rId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image" Target="/ppt/media/image-1004-1.png" Id="rId1" /><Relationship Type="http://schemas.openxmlformats.org/officeDocument/2006/relationships/slideMaster" Target="/ppt/slideMasters/slideMaster1.xml" Id="rId3" /><Relationship Type="http://schemas.openxmlformats.org/officeDocument/2006/relationships/hyperlink" Target="https://gamma.app/?utm_source=made-with-gamma" TargetMode="External" Id="rId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image" Target="/ppt/media/image-1005-1.png" Id="rId1" /><Relationship Type="http://schemas.openxmlformats.org/officeDocument/2006/relationships/slideMaster" Target="/ppt/slideMasters/slideMaster1.xml" Id="rId3" /><Relationship Type="http://schemas.openxmlformats.org/officeDocument/2006/relationships/hyperlink" Target="https://gamma.app/?utm_source=made-with-gamma" TargetMode="External" Id="rId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image" Target="/ppt/media/image-1006-1.png" Id="rId1" /><Relationship Type="http://schemas.openxmlformats.org/officeDocument/2006/relationships/slideMaster" Target="/ppt/slideMasters/slideMaster1.xml" Id="rId3" /><Relationship Type="http://schemas.openxmlformats.org/officeDocument/2006/relationships/hyperlink" Target="https://gamma.app/?utm_source=made-with-gamma" TargetMode="External" Id="rId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image" Target="/ppt/media/image-1007-1.png" Id="rId1" /><Relationship Type="http://schemas.openxmlformats.org/officeDocument/2006/relationships/slideMaster" Target="/ppt/slideMasters/slideMaster1.xml" Id="rId3" /><Relationship Type="http://schemas.openxmlformats.org/officeDocument/2006/relationships/hyperlink" Target="https://gamma.app/?utm_source=made-with-gamma" TargetMode="External" Id="rId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image" Target="/ppt/media/image-1008-1.png" Id="rId1" /><Relationship Type="http://schemas.openxmlformats.org/officeDocument/2006/relationships/slideMaster" Target="/ppt/slideMasters/slideMaster1.xml" Id="rId3" /><Relationship Type="http://schemas.openxmlformats.org/officeDocument/2006/relationships/hyperlink" Target="https://gamma.app/?utm_source=made-with-gamma" TargetMode="External" Id="rId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image" Target="/ppt/media/image-1009-1.png" Id="rId1" /><Relationship Type="http://schemas.openxmlformats.org/officeDocument/2006/relationships/slideMaster" Target="/ppt/slideMasters/slideMaster1.xml" Id="rId3" /><Relationship Type="http://schemas.openxmlformats.org/officeDocument/2006/relationships/hyperlink" Target="https://gamma.app/?utm_source=made-with-gamma" TargetMode="External" Id="rId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image" Target="/ppt/media/image-1010-1.png" Id="rId1" /><Relationship Type="http://schemas.openxmlformats.org/officeDocument/2006/relationships/slideMaster" Target="/ppt/slideMasters/slideMaster1.xml" Id="rId3" /><Relationship Type="http://schemas.openxmlformats.org/officeDocument/2006/relationships/hyperlink" Target="https://gamma.app/?utm_source=made-with-gamma" TargetMode="External" Id="rId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image" Target="/ppt/media/image-1011-1.png" Id="rId1" /><Relationship Type="http://schemas.openxmlformats.org/officeDocument/2006/relationships/slideMaster" Target="/ppt/slideMasters/slideMaster1.xml" Id="rId3" /><Relationship Type="http://schemas.openxmlformats.org/officeDocument/2006/relationships/hyperlink" Target="https://gamma.app/?utm_source=made-with-gamma" TargetMode="External" Id="rId2" 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Relationship Type="http://schemas.openxmlformats.org/officeDocument/2006/relationships/slideLayout" Target="/ppt/slideLayouts/slideLayout6.xml" Id="rId6" /><Relationship Type="http://schemas.openxmlformats.org/officeDocument/2006/relationships/slideLayout" Target="/ppt/slideLayouts/slideLayout7.xml" Id="rId7" /><Relationship Type="http://schemas.openxmlformats.org/officeDocument/2006/relationships/slideLayout" Target="/ppt/slideLayouts/slideLayout8.xml" Id="rId8" /><Relationship Type="http://schemas.openxmlformats.org/officeDocument/2006/relationships/slideLayout" Target="/ppt/slideLayouts/slideLayout9.xml" Id="rId9" /><Relationship Type="http://schemas.openxmlformats.org/officeDocument/2006/relationships/slideLayout" Target="/ppt/slideLayouts/slideLayout10.xml" Id="rId10" /><Relationship Type="http://schemas.openxmlformats.org/officeDocument/2006/relationships/slideLayout" Target="/ppt/slideLayouts/slideLayout11.xml" Id="rId11" /><Relationship Type="http://schemas.openxmlformats.org/officeDocument/2006/relationships/theme" Target="/ppt/theme/theme1.xml" Id="rId12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-1-1.png" Id="rId1" /><Relationship Type="http://schemas.openxmlformats.org/officeDocument/2006/relationships/slideLayout" Target="/ppt/slideLayouts/slideLayout2.xml" Id="rId2" /><Relationship Type="http://schemas.openxmlformats.org/officeDocument/2006/relationships/notesSlide" Target="/ppt/notesSlides/notesSlide1.xml" Id="rI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image" Target="/ppt/media/image-2-1.png" Id="rId1" /><Relationship Type="http://schemas.openxmlformats.org/officeDocument/2006/relationships/image" Target="/ppt/media/image-2-2.png" Id="rId2" /><Relationship Type="http://schemas.openxmlformats.org/officeDocument/2006/relationships/slideLayout" Target="/ppt/slideLayouts/slideLayout3.xml" Id="rId3" /><Relationship Type="http://schemas.openxmlformats.org/officeDocument/2006/relationships/notesSlide" Target="/ppt/notesSlides/notesSlide2.xml" Id="rI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image" Target="/ppt/media/image-3-1.png" Id="rId1" /><Relationship Type="http://schemas.openxmlformats.org/officeDocument/2006/relationships/image" Target="/ppt/media/image-3-2.svg" Id="rId2" /><Relationship Type="http://schemas.openxmlformats.org/officeDocument/2006/relationships/image" Target="/ppt/media/image-3-3.png" Id="rId3" /><Relationship Type="http://schemas.openxmlformats.org/officeDocument/2006/relationships/image" Target="/ppt/media/image-3-4.svg" Id="rId4" /><Relationship Type="http://schemas.openxmlformats.org/officeDocument/2006/relationships/image" Target="/ppt/media/image-3-5.png" Id="rId5" /><Relationship Type="http://schemas.openxmlformats.org/officeDocument/2006/relationships/image" Target="/ppt/media/image-3-6.svg" Id="rId6" /><Relationship Type="http://schemas.openxmlformats.org/officeDocument/2006/relationships/image" Target="/ppt/media/image-3-7.png" Id="rId7" /><Relationship Type="http://schemas.openxmlformats.org/officeDocument/2006/relationships/image" Target="/ppt/media/image-3-8.svg" Id="rId8" /><Relationship Type="http://schemas.openxmlformats.org/officeDocument/2006/relationships/slideLayout" Target="/ppt/slideLayouts/slideLayout4.xml" Id="rId9" /><Relationship Type="http://schemas.openxmlformats.org/officeDocument/2006/relationships/notesSlide" Target="/ppt/notesSlides/notesSlide3.xml" Id="rId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image" Target="/ppt/media/image-4-1.png" Id="rId1" /><Relationship Type="http://schemas.openxmlformats.org/officeDocument/2006/relationships/slideLayout" Target="/ppt/slideLayouts/slideLayout5.xml" Id="rId2" /><Relationship Type="http://schemas.openxmlformats.org/officeDocument/2006/relationships/notesSlide" Target="/ppt/notesSlides/notesSlide4.xml" Id="rI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image" Target="/ppt/media/image-5-1.png" Id="rId1" /><Relationship Type="http://schemas.openxmlformats.org/officeDocument/2006/relationships/slideLayout" Target="/ppt/slideLayouts/slideLayout6.xml" Id="rId2" /><Relationship Type="http://schemas.openxmlformats.org/officeDocument/2006/relationships/notesSlide" Target="/ppt/notesSlides/notesSlide5.xml" Id="rI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image" Target="/ppt/media/image-6-1.png" Id="rId1" /><Relationship Type="http://schemas.openxmlformats.org/officeDocument/2006/relationships/image" Target="/ppt/media/image-6-2.svg" Id="rId2" /><Relationship Type="http://schemas.openxmlformats.org/officeDocument/2006/relationships/image" Target="/ppt/media/image-6-3.png" Id="rId3" /><Relationship Type="http://schemas.openxmlformats.org/officeDocument/2006/relationships/image" Target="/ppt/media/image-6-4.svg" Id="rId4" /><Relationship Type="http://schemas.openxmlformats.org/officeDocument/2006/relationships/image" Target="/ppt/media/image-6-5.png" Id="rId5" /><Relationship Type="http://schemas.openxmlformats.org/officeDocument/2006/relationships/image" Target="/ppt/media/image-6-6.svg" Id="rId6" /><Relationship Type="http://schemas.openxmlformats.org/officeDocument/2006/relationships/image" Target="/ppt/media/image-6-7.png" Id="rId7" /><Relationship Type="http://schemas.openxmlformats.org/officeDocument/2006/relationships/image" Target="/ppt/media/image-6-8.svg" Id="rId8" /><Relationship Type="http://schemas.openxmlformats.org/officeDocument/2006/relationships/image" Target="/ppt/media/image-6-9.png" Id="rId9" /><Relationship Type="http://schemas.openxmlformats.org/officeDocument/2006/relationships/image" Target="/ppt/media/image-6-10.svg" Id="rId10" /><Relationship Type="http://schemas.openxmlformats.org/officeDocument/2006/relationships/slideLayout" Target="/ppt/slideLayouts/slideLayout7.xml" Id="rId11" /><Relationship Type="http://schemas.openxmlformats.org/officeDocument/2006/relationships/notesSlide" Target="/ppt/notesSlides/notesSlide6.xml" Id="rId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image" Target="/ppt/media/image-7-1.png" Id="rId1" /><Relationship Type="http://schemas.openxmlformats.org/officeDocument/2006/relationships/image" Target="/ppt/media/image-7-2.png" Id="rId2" /><Relationship Type="http://schemas.openxmlformats.org/officeDocument/2006/relationships/image" Target="/ppt/media/image-7-3.svg" Id="rId3" /><Relationship Type="http://schemas.openxmlformats.org/officeDocument/2006/relationships/image" Target="/ppt/media/image-7-4.png" Id="rId4" /><Relationship Type="http://schemas.openxmlformats.org/officeDocument/2006/relationships/image" Target="/ppt/media/image-7-5.svg" Id="rId5" /><Relationship Type="http://schemas.openxmlformats.org/officeDocument/2006/relationships/image" Target="/ppt/media/image-7-6.png" Id="rId6" /><Relationship Type="http://schemas.openxmlformats.org/officeDocument/2006/relationships/image" Target="/ppt/media/image-7-7.svg" Id="rId7" /><Relationship Type="http://schemas.openxmlformats.org/officeDocument/2006/relationships/image" Target="/ppt/media/image-7-8.png" Id="rId8" /><Relationship Type="http://schemas.openxmlformats.org/officeDocument/2006/relationships/image" Target="/ppt/media/image-7-9.svg" Id="rId9" /><Relationship Type="http://schemas.openxmlformats.org/officeDocument/2006/relationships/slideLayout" Target="/ppt/slideLayouts/slideLayout8.xml" Id="rId10" /><Relationship Type="http://schemas.openxmlformats.org/officeDocument/2006/relationships/notesSlide" Target="/ppt/notesSlides/notesSlide7.xml" Id="rId1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image" Target="/ppt/media/image-8-1.png" Id="rId1" /><Relationship Type="http://schemas.openxmlformats.org/officeDocument/2006/relationships/image" Target="/ppt/media/image-8-2.png" Id="rId2" /><Relationship Type="http://schemas.openxmlformats.org/officeDocument/2006/relationships/image" Target="/ppt/media/image-8-3.svg" Id="rId3" /><Relationship Type="http://schemas.openxmlformats.org/officeDocument/2006/relationships/image" Target="/ppt/media/image-8-4.png" Id="rId4" /><Relationship Type="http://schemas.openxmlformats.org/officeDocument/2006/relationships/image" Target="/ppt/media/image-8-5.svg" Id="rId5" /><Relationship Type="http://schemas.openxmlformats.org/officeDocument/2006/relationships/slideLayout" Target="/ppt/slideLayouts/slideLayout9.xml" Id="rId6" /><Relationship Type="http://schemas.openxmlformats.org/officeDocument/2006/relationships/notesSlide" Target="/ppt/notesSlides/notesSlide8.xml" Id="rId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image" Target="/ppt/media/image-9-1.png" Id="rId1" /><Relationship Type="http://schemas.openxmlformats.org/officeDocument/2006/relationships/image" Target="/ppt/media/image-9-2.png" Id="rId2" /><Relationship Type="http://schemas.openxmlformats.org/officeDocument/2006/relationships/slideLayout" Target="/ppt/slideLayouts/slideLayout10.xml" Id="rId3" /><Relationship Type="http://schemas.openxmlformats.org/officeDocument/2006/relationships/notesSlide" Target="/ppt/notesSlides/notesSlide9.xml" Id="rId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image" Target="/ppt/media/image-10-1.png" Id="rId1" /><Relationship Type="http://schemas.openxmlformats.org/officeDocument/2006/relationships/slideLayout" Target="/ppt/slideLayouts/slideLayout11.xml" Id="rId2" /><Relationship Type="http://schemas.openxmlformats.org/officeDocument/2006/relationships/notesSlide" Target="/ppt/notesSlides/notesSlide10.xml" Id="rId3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087761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Scalable System Design for a Food Delivery Aggregator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304824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Functional, Technical, and Architectural Overview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793790" y="577893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by: AI Design Team | October 2023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672602"/>
            <a:ext cx="1193006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Introduction: Revolutionising Food Delivery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721542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mission is to build a robust and scalable food delivery aggregator platform that seamlessly connects customers, restaurants, and couriers. This system addresses the complexities of real-time ordering, dispatch, and tracking, ensuring efficiency and reliability.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6065401"/>
            <a:ext cx="13042821" cy="1326713"/>
          </a:xfrm>
          <a:prstGeom prst="roundRect">
            <a:avLst>
              <a:gd name="adj" fmla="val 7181"/>
            </a:avLst>
          </a:prstGeom>
          <a:solidFill>
            <a:srgbClr val="C7C9EA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604" y="6409492"/>
            <a:ext cx="283488" cy="2268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30906" y="6348889"/>
            <a:ext cx="120788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presentation delves into the core architectural decisions and technical components that underpin our platform's performance and scalability.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0539" y="509945"/>
            <a:ext cx="6064210" cy="446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Stakeholders &amp; Core Requirements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0539" y="1457206"/>
            <a:ext cx="6743105" cy="1053703"/>
          </a:xfrm>
          <a:prstGeom prst="roundRect">
            <a:avLst>
              <a:gd name="adj" fmla="val 6942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500539" y="1441966"/>
            <a:ext cx="6743105" cy="60960"/>
          </a:xfrm>
          <a:prstGeom prst="roundRect">
            <a:avLst>
              <a:gd name="adj" fmla="val 98543"/>
            </a:avLst>
          </a:prstGeom>
          <a:solidFill>
            <a:srgbClr val="4950BC"/>
          </a:solidFill>
          <a:ln/>
        </p:spPr>
      </p:sp>
      <p:sp>
        <p:nvSpPr>
          <p:cNvPr id="5" name="Shape 3"/>
          <p:cNvSpPr/>
          <p:nvPr/>
        </p:nvSpPr>
        <p:spPr>
          <a:xfrm>
            <a:off x="3657540" y="1242774"/>
            <a:ext cx="428982" cy="428982"/>
          </a:xfrm>
          <a:prstGeom prst="roundRect">
            <a:avLst>
              <a:gd name="adj" fmla="val 213156"/>
            </a:avLst>
          </a:prstGeom>
          <a:solidFill>
            <a:srgbClr val="4950B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86247" y="1371481"/>
            <a:ext cx="171569" cy="1715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773" y="1814751"/>
            <a:ext cx="1787843" cy="223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 Focus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58773" y="2123956"/>
            <a:ext cx="6426637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Intuitive ordering, real-time tracking, secure payments, and personalised experiences.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86638" y="1457206"/>
            <a:ext cx="6743224" cy="1053703"/>
          </a:xfrm>
          <a:prstGeom prst="roundRect">
            <a:avLst>
              <a:gd name="adj" fmla="val 6942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7386638" y="1441966"/>
            <a:ext cx="6743224" cy="60960"/>
          </a:xfrm>
          <a:prstGeom prst="roundRect">
            <a:avLst>
              <a:gd name="adj" fmla="val 98543"/>
            </a:avLst>
          </a:prstGeom>
          <a:solidFill>
            <a:srgbClr val="4950BC"/>
          </a:solidFill>
          <a:ln/>
        </p:spPr>
      </p:sp>
      <p:sp>
        <p:nvSpPr>
          <p:cNvPr id="11" name="Shape 8"/>
          <p:cNvSpPr/>
          <p:nvPr/>
        </p:nvSpPr>
        <p:spPr>
          <a:xfrm>
            <a:off x="10543758" y="1242774"/>
            <a:ext cx="428982" cy="428982"/>
          </a:xfrm>
          <a:prstGeom prst="roundRect">
            <a:avLst>
              <a:gd name="adj" fmla="val 213156"/>
            </a:avLst>
          </a:prstGeom>
          <a:solidFill>
            <a:srgbClr val="4950B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72465" y="1371481"/>
            <a:ext cx="171569" cy="171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44872" y="1814751"/>
            <a:ext cx="1949529" cy="223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Restaurant Integration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544872" y="2123956"/>
            <a:ext cx="6426756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Efficient order management, menu updates, and timely payment processing.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00539" y="2868335"/>
            <a:ext cx="6743105" cy="1053703"/>
          </a:xfrm>
          <a:prstGeom prst="roundRect">
            <a:avLst>
              <a:gd name="adj" fmla="val 6942"/>
            </a:avLst>
          </a:prstGeom>
          <a:solidFill>
            <a:srgbClr val="FFFFFF"/>
          </a:solidFill>
          <a:ln/>
        </p:spPr>
      </p:sp>
      <p:sp>
        <p:nvSpPr>
          <p:cNvPr id="16" name="Shape 12"/>
          <p:cNvSpPr/>
          <p:nvPr/>
        </p:nvSpPr>
        <p:spPr>
          <a:xfrm>
            <a:off x="500539" y="2853095"/>
            <a:ext cx="6743105" cy="60960"/>
          </a:xfrm>
          <a:prstGeom prst="roundRect">
            <a:avLst>
              <a:gd name="adj" fmla="val 98543"/>
            </a:avLst>
          </a:prstGeom>
          <a:solidFill>
            <a:srgbClr val="4950BC"/>
          </a:solidFill>
          <a:ln/>
        </p:spPr>
      </p:sp>
      <p:sp>
        <p:nvSpPr>
          <p:cNvPr id="17" name="Shape 13"/>
          <p:cNvSpPr/>
          <p:nvPr/>
        </p:nvSpPr>
        <p:spPr>
          <a:xfrm>
            <a:off x="3657540" y="2653903"/>
            <a:ext cx="428982" cy="428982"/>
          </a:xfrm>
          <a:prstGeom prst="roundRect">
            <a:avLst>
              <a:gd name="adj" fmla="val 213156"/>
            </a:avLst>
          </a:prstGeom>
          <a:solidFill>
            <a:srgbClr val="4950B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86247" y="2782610"/>
            <a:ext cx="171569" cy="17156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8773" y="3225879"/>
            <a:ext cx="1787843" cy="223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Courier Operations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58773" y="3535085"/>
            <a:ext cx="6426637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Optimised dispatch, navigation assistance, and transparent earnings tracking.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7386638" y="2868335"/>
            <a:ext cx="6743224" cy="1053703"/>
          </a:xfrm>
          <a:prstGeom prst="roundRect">
            <a:avLst>
              <a:gd name="adj" fmla="val 6942"/>
            </a:avLst>
          </a:prstGeom>
          <a:solidFill>
            <a:srgbClr val="FFFFFF"/>
          </a:solidFill>
          <a:ln/>
        </p:spPr>
      </p:sp>
      <p:sp>
        <p:nvSpPr>
          <p:cNvPr id="22" name="Shape 17"/>
          <p:cNvSpPr/>
          <p:nvPr/>
        </p:nvSpPr>
        <p:spPr>
          <a:xfrm>
            <a:off x="7386638" y="2853095"/>
            <a:ext cx="6743224" cy="60960"/>
          </a:xfrm>
          <a:prstGeom prst="roundRect">
            <a:avLst>
              <a:gd name="adj" fmla="val 98543"/>
            </a:avLst>
          </a:prstGeom>
          <a:solidFill>
            <a:srgbClr val="4950BC"/>
          </a:solidFill>
          <a:ln/>
        </p:spPr>
      </p:sp>
      <p:sp>
        <p:nvSpPr>
          <p:cNvPr id="23" name="Shape 18"/>
          <p:cNvSpPr/>
          <p:nvPr/>
        </p:nvSpPr>
        <p:spPr>
          <a:xfrm>
            <a:off x="10543758" y="2653903"/>
            <a:ext cx="428982" cy="428982"/>
          </a:xfrm>
          <a:prstGeom prst="roundRect">
            <a:avLst>
              <a:gd name="adj" fmla="val 213156"/>
            </a:avLst>
          </a:prstGeom>
          <a:solidFill>
            <a:srgbClr val="4950BC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672465" y="2782610"/>
            <a:ext cx="171569" cy="171569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544872" y="3225879"/>
            <a:ext cx="1934289" cy="223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Operational Efficiency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7544872" y="3535085"/>
            <a:ext cx="6426756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Robust administration tools, analytics, and customer support interfaces.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7307580" y="4082891"/>
            <a:ext cx="15240" cy="3636645"/>
          </a:xfrm>
          <a:prstGeom prst="roundRect">
            <a:avLst>
              <a:gd name="adj" fmla="val 394172"/>
            </a:avLst>
          </a:prstGeom>
          <a:solidFill>
            <a:srgbClr val="C0C1D7"/>
          </a:solidFill>
          <a:ln/>
        </p:spPr>
      </p:sp>
      <p:sp>
        <p:nvSpPr>
          <p:cNvPr id="28" name="Shape 22"/>
          <p:cNvSpPr/>
          <p:nvPr/>
        </p:nvSpPr>
        <p:spPr>
          <a:xfrm>
            <a:off x="485299" y="4082891"/>
            <a:ext cx="6814661" cy="1675328"/>
          </a:xfrm>
          <a:prstGeom prst="roundRect">
            <a:avLst>
              <a:gd name="adj" fmla="val 3586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4987171" y="4233505"/>
            <a:ext cx="2169795" cy="223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Functional Requirements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635913" y="4542711"/>
            <a:ext cx="6521053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 Placement &amp; Management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635913" y="4821436"/>
            <a:ext cx="6521053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Tracking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635913" y="5100161"/>
            <a:ext cx="6521053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 Processing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635913" y="5378887"/>
            <a:ext cx="6521053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&amp; Discovery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7330440" y="6044208"/>
            <a:ext cx="6814661" cy="1675328"/>
          </a:xfrm>
          <a:prstGeom prst="rect">
            <a:avLst/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7473434" y="6194822"/>
            <a:ext cx="2610445" cy="223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Non-Functional Requirements</a:t>
            </a:r>
            <a:endParaRPr lang="en-US" sz="1400" dirty="0"/>
          </a:p>
        </p:txBody>
      </p:sp>
      <p:sp>
        <p:nvSpPr>
          <p:cNvPr id="36" name="Text 30"/>
          <p:cNvSpPr/>
          <p:nvPr/>
        </p:nvSpPr>
        <p:spPr>
          <a:xfrm>
            <a:off x="7473434" y="6504027"/>
            <a:ext cx="6521053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Availability (99.99%)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7473434" y="6782753"/>
            <a:ext cx="6521053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Latency (Sub-second)</a:t>
            </a:r>
            <a:endParaRPr lang="en-US" sz="1100" dirty="0"/>
          </a:p>
        </p:txBody>
      </p:sp>
      <p:sp>
        <p:nvSpPr>
          <p:cNvPr id="38" name="Text 32"/>
          <p:cNvSpPr/>
          <p:nvPr/>
        </p:nvSpPr>
        <p:spPr>
          <a:xfrm>
            <a:off x="7473434" y="7061478"/>
            <a:ext cx="6521053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Scalability (Millions of users)</a:t>
            </a:r>
            <a:endParaRPr lang="en-US" sz="1100" dirty="0"/>
          </a:p>
        </p:txBody>
      </p:sp>
      <p:sp>
        <p:nvSpPr>
          <p:cNvPr id="39" name="Text 33"/>
          <p:cNvSpPr/>
          <p:nvPr/>
        </p:nvSpPr>
        <p:spPr>
          <a:xfrm>
            <a:off x="7473434" y="7340203"/>
            <a:ext cx="6521053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Consistency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5304" y="412671"/>
            <a:ext cx="4545449" cy="468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5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Context Diagram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525304" y="1181695"/>
            <a:ext cx="13579793" cy="240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Understanding the high-level interactions between our core system and external entities is crucial for defining boundaries and integrations.</a:t>
            </a:r>
            <a:endParaRPr lang="en-US" sz="11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304" y="1590675"/>
            <a:ext cx="13579793" cy="74104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05629" y="4416092"/>
            <a:ext cx="2810157" cy="73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Food Delivery Aggregator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905629" y="5255872"/>
            <a:ext cx="2810157" cy="882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system coordinating orders and integrations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0395345" y="3086986"/>
            <a:ext cx="2940862" cy="367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Restaurant App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0245034" y="3559157"/>
            <a:ext cx="3241483" cy="588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Receive orders and update status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272137" y="6746725"/>
            <a:ext cx="2940862" cy="367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Courier App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121826" y="7218897"/>
            <a:ext cx="3241484" cy="588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Accept jobs and report location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638111" y="2368108"/>
            <a:ext cx="2940862" cy="367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 App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487800" y="2840280"/>
            <a:ext cx="3241484" cy="588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Place orders and track deliveries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0003230" y="7481941"/>
            <a:ext cx="2940861" cy="367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Payment Gateway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9852920" y="7954113"/>
            <a:ext cx="3241483" cy="294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 payments securely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25304" y="9169956"/>
            <a:ext cx="13579793" cy="240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diagram illustrates the primary interfaces and external dependencies required for our platform to function.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83820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High-Level Architecture: Microservices Approach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595926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platform leverages a microservices architecture to ensure modularity, scalability, and independent deployment cycles. Each service is responsible for a specific business capability.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4939784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flows through an API Gateway, which routes requests to appropriate microservices. Services communicate via asynchronous messaging (e.g., Kafka) and RESTful APIs, with dedicated databases per service.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54812"/>
            <a:ext cx="1110257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Components: Specialised Services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2517219"/>
            <a:ext cx="680442" cy="6804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57720" y="27085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Order Service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757720" y="3198971"/>
            <a:ext cx="319468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Manages order lifecycle, from creation to completion, including menu aggregation and pricing.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893" y="2517219"/>
            <a:ext cx="680442" cy="68044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99823" y="27085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Dispatch Service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199823" y="3198971"/>
            <a:ext cx="319468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Optimises courier assignment based on availability, location, and order characteristics.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77995" y="2517219"/>
            <a:ext cx="680442" cy="68044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641925" y="27085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Tracking Service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641925" y="3198971"/>
            <a:ext cx="319468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Provides real-time location updates for couriers and orders to customers and restaurants.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5104209"/>
            <a:ext cx="680442" cy="68044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757720" y="52955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Notification Service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757720" y="5785961"/>
            <a:ext cx="319468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Handles all communication: push notifications, SMS, and email for status updates.</a:t>
            </a:r>
            <a:endParaRPr lang="en-US" sz="17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35893" y="5104209"/>
            <a:ext cx="680442" cy="68044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199823" y="52955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Driver Service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6199823" y="5785961"/>
            <a:ext cx="319468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Manages courier profiles, availability, shift scheduling, and earnings.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7566" y="414457"/>
            <a:ext cx="7389257" cy="471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Model: Key Entities &amp; Relationships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527566" y="1186934"/>
            <a:ext cx="13575268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well-defined data model is foundational for data integrity and efficient querying across our services. We utilise polyglot persistence, selecting the best database for each service's needs.</a:t>
            </a:r>
            <a:endParaRPr lang="en-US" sz="11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566" y="1597581"/>
            <a:ext cx="13575268" cy="704861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64051" y="4548350"/>
            <a:ext cx="1675180" cy="1130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Delivery Platform ER Model</a:t>
            </a:r>
            <a:endParaRPr lang="en-US" sz="13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03755" y="3466813"/>
            <a:ext cx="340899" cy="34089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48850" y="3052206"/>
            <a:ext cx="2934914" cy="37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848850" y="3536333"/>
            <a:ext cx="2934914" cy="603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customer_id, name, contact, address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10846321" y="3052206"/>
            <a:ext cx="2934914" cy="37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Order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0846321" y="3536333"/>
            <a:ext cx="2934914" cy="904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order_id, customer_id, restaurant_id, courier_id, total</a:t>
            </a:r>
            <a:endParaRPr lang="en-US" sz="10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46902" y="2743135"/>
            <a:ext cx="340899" cy="340899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73888" y="6388325"/>
            <a:ext cx="340899" cy="34089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48850" y="6188142"/>
            <a:ext cx="2934914" cy="376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Restaurant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848850" y="6672269"/>
            <a:ext cx="2934914" cy="603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restaurant_id, name, location, cuisine</a:t>
            </a:r>
            <a:endParaRPr lang="en-US" sz="1050" dirty="0"/>
          </a:p>
        </p:txBody>
      </p:sp>
      <p:sp>
        <p:nvSpPr>
          <p:cNvPr id="15" name="Text 9"/>
          <p:cNvSpPr/>
          <p:nvPr/>
        </p:nvSpPr>
        <p:spPr>
          <a:xfrm>
            <a:off x="10846321" y="6188142"/>
            <a:ext cx="2934914" cy="376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Courier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10846321" y="6672269"/>
            <a:ext cx="2934914" cy="603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courier_id, name, phone, vehicle_id</a:t>
            </a:r>
            <a:endParaRPr lang="en-US" sz="10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81939" y="7500644"/>
            <a:ext cx="340898" cy="34089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27566" y="8815745"/>
            <a:ext cx="13575268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entities include Customers, Orders, Restaurants, Menu Items, Couriers, and Payments, with clear relationships defining interactions.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560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6875" y="3287554"/>
            <a:ext cx="10036731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Dispatch Algorithm: Optimising Delivery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716875" y="4234815"/>
            <a:ext cx="13196649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Efficient dispatch is critical for customer satisfaction and operational cost-effectiveness. We explore two primary approaches to courier assignment.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16875" y="5120521"/>
            <a:ext cx="460772" cy="460772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671" y="5197257"/>
            <a:ext cx="307181" cy="30718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82435" y="5190887"/>
            <a:ext cx="2560320" cy="31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Greedy Matching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1382435" y="5633680"/>
            <a:ext cx="5804773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Assigns the nearest available courier to an order immediately upon request. Simple and fast, ideal for low-density areas.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7443192" y="5120521"/>
            <a:ext cx="460772" cy="460772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19988" y="5197257"/>
            <a:ext cx="307181" cy="30718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108752" y="5190887"/>
            <a:ext cx="2560320" cy="31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Global Matching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8108752" y="5633680"/>
            <a:ext cx="5804773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Considers all pending orders and available couriers to optimise multiple deliveries simultaneously. More complex, but reduces overall delivery times and costs in high-density areas.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716875" y="7174706"/>
            <a:ext cx="13196649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system dynamically switches between greedy and global algorithms based on real-time demand and courier availability.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94826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1605" y="362664"/>
            <a:ext cx="7196257" cy="412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Real-Time Tracking: Keeping Users Informed</a:t>
            </a:r>
            <a:endParaRPr lang="en-US" sz="2550" dirty="0"/>
          </a:p>
        </p:txBody>
      </p:sp>
      <p:sp>
        <p:nvSpPr>
          <p:cNvPr id="4" name="Text 1"/>
          <p:cNvSpPr/>
          <p:nvPr/>
        </p:nvSpPr>
        <p:spPr>
          <a:xfrm>
            <a:off x="461605" y="972622"/>
            <a:ext cx="8220789" cy="421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Providing accurate, up-to-the-minute tracking information is a cornerstone of our user experience. This involves a sophisticated real-time data pipeline.</a:t>
            </a:r>
            <a:endParaRPr lang="en-US" sz="1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569" y="1542931"/>
            <a:ext cx="7662863" cy="59121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893981" y="4014143"/>
            <a:ext cx="1336453" cy="916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Real-Time GPS Pipeline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5208703" y="5840051"/>
            <a:ext cx="1988211" cy="6111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Tracking Service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208703" y="6538157"/>
            <a:ext cx="1988211" cy="488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Consumes and processes events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1058094" y="4037062"/>
            <a:ext cx="2031672" cy="305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 App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058094" y="4429578"/>
            <a:ext cx="2031672" cy="488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Receives real-time location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1894735" y="5840051"/>
            <a:ext cx="1988211" cy="6111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WebSocket Server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894735" y="6538157"/>
            <a:ext cx="1988211" cy="488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Pushes live updates to clients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034478" y="3873402"/>
            <a:ext cx="2031672" cy="611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Kafka Message Broker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6034478" y="4571508"/>
            <a:ext cx="2031672" cy="488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Ingests and queues location events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3502824" y="1988922"/>
            <a:ext cx="2042538" cy="305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Courier App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3502824" y="2381437"/>
            <a:ext cx="2042538" cy="488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Sends frequent GPS updates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61605" y="7603450"/>
            <a:ext cx="8220789" cy="210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GPS Updates:</a:t>
            </a:r>
            <a:pPr algn="l" indent="0" marL="0">
              <a:lnSpc>
                <a:spcPts val="16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Courier apps send frequent location data.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61605" y="7860506"/>
            <a:ext cx="8220789" cy="210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Kafka Stream:</a:t>
            </a:r>
            <a:pPr algn="l" indent="0" marL="0">
              <a:lnSpc>
                <a:spcPts val="16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Updates are ingested into Kafka for high-throughput, low-latency processing.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61605" y="8117562"/>
            <a:ext cx="8220789" cy="210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Tracking Service:</a:t>
            </a:r>
            <a:pPr algn="l" indent="0" marL="0">
              <a:lnSpc>
                <a:spcPts val="16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Processes location data, performs geo-fencing, and stores historical routes.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61605" y="8374618"/>
            <a:ext cx="8220789" cy="210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WebSocket Server:</a:t>
            </a:r>
            <a:pPr algn="l" indent="0" marL="0">
              <a:lnSpc>
                <a:spcPts val="16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Maintains persistent connections with customer and restaurant apps to push real-time updates.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575441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Performance &amp; Scalability Considerations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96835" y="892969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Designing for high performance and scalability is paramount for handling peak demand and continuous growth.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96835" y="1315283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Geo-Sharding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96835" y="1605796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Distributing data and services geographically to reduce latency and manage load, particularly for location-based queries.</a:t>
            </a:r>
            <a:endParaRPr lang="en-US" sz="8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835" y="1914763"/>
            <a:ext cx="6780014" cy="67800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61171" y="1315283"/>
            <a:ext cx="2111573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WebSocket Load Management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61171" y="1605796"/>
            <a:ext cx="6780014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Utilising dedicated WebSocket servers and load balancers to efficiently handle millions of concurrent client connections for real-time tracking.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461171" y="2082046"/>
            <a:ext cx="1556980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Concurrency Handling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461171" y="2372558"/>
            <a:ext cx="6780014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Implementing robust queuing mechanisms and asynchronous processing to manage high volumes of concurrent orders and requests.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96835" y="9006483"/>
            <a:ext cx="4517708" cy="374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1M+</a:t>
            </a:r>
            <a:endParaRPr lang="en-US" sz="2900" dirty="0"/>
          </a:p>
        </p:txBody>
      </p:sp>
      <p:sp>
        <p:nvSpPr>
          <p:cNvPr id="12" name="Text 9"/>
          <p:cNvSpPr/>
          <p:nvPr/>
        </p:nvSpPr>
        <p:spPr>
          <a:xfrm>
            <a:off x="1946910" y="9522381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Concurrent Users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96835" y="9767530"/>
            <a:ext cx="4517708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system is designed to support over a million simultaneous users.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056227" y="9006483"/>
            <a:ext cx="4517827" cy="374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500K</a:t>
            </a:r>
            <a:endParaRPr lang="en-US" sz="2900" dirty="0"/>
          </a:p>
        </p:txBody>
      </p:sp>
      <p:sp>
        <p:nvSpPr>
          <p:cNvPr id="15" name="Text 12"/>
          <p:cNvSpPr/>
          <p:nvPr/>
        </p:nvSpPr>
        <p:spPr>
          <a:xfrm>
            <a:off x="6606302" y="9522381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Orders/Hour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056227" y="9767530"/>
            <a:ext cx="451782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Scalable to process half a million orders per hour during peak times.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9715738" y="9006483"/>
            <a:ext cx="4517708" cy="374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&lt;200ms</a:t>
            </a:r>
            <a:endParaRPr lang="en-US" sz="2900" dirty="0"/>
          </a:p>
        </p:txBody>
      </p:sp>
      <p:sp>
        <p:nvSpPr>
          <p:cNvPr id="18" name="Text 15"/>
          <p:cNvSpPr/>
          <p:nvPr/>
        </p:nvSpPr>
        <p:spPr>
          <a:xfrm>
            <a:off x="11265813" y="9522381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API Latency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715738" y="9767530"/>
            <a:ext cx="4517708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average API response time for critical operations.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2025-11-15T20:35:32Z</dcterms:created>
  <dcterms:modified xsi:type="dcterms:W3CDTF">2025-11-15T20:35:32Z</dcterms:modified>
</cp:coreProperties>
</file>